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54864" cy="54864"/>
          </a:xfrm>
          <a:prstGeom prst="ellipse">
            <a:avLst/>
          </a:prstGeom>
          <a:solidFill>
            <a:srgbClr val="FF8EB6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920240"/>
            <a:ext cx="45720" cy="45720"/>
          </a:xfrm>
          <a:prstGeom prst="ellipse">
            <a:avLst/>
          </a:prstGeom>
          <a:solidFill>
            <a:srgbClr val="FF8EB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743200"/>
            <a:ext cx="45720" cy="45720"/>
          </a:xfrm>
          <a:prstGeom prst="ellipse">
            <a:avLst/>
          </a:prstGeom>
          <a:solidFill>
            <a:srgbClr val="FF8EB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3840480"/>
            <a:ext cx="54864" cy="54864"/>
          </a:xfrm>
          <a:prstGeom prst="ellipse">
            <a:avLst/>
          </a:prstGeom>
          <a:solidFill>
            <a:srgbClr val="FF8EB6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0" y="1371600"/>
            <a:ext cx="54864" cy="54864"/>
          </a:xfrm>
          <a:prstGeom prst="ellipse">
            <a:avLst/>
          </a:prstGeom>
          <a:solidFill>
            <a:srgbClr val="FF8EB6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0" y="2194560"/>
            <a:ext cx="45720" cy="45720"/>
          </a:xfrm>
          <a:prstGeom prst="ellipse">
            <a:avLst/>
          </a:prstGeom>
          <a:solidFill>
            <a:srgbClr val="FF8EB6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8560" y="3017520"/>
            <a:ext cx="45720" cy="45720"/>
          </a:xfrm>
          <a:prstGeom prst="ellipse">
            <a:avLst/>
          </a:prstGeom>
          <a:solidFill>
            <a:srgbClr val="FF8EB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0" y="4754880"/>
            <a:ext cx="54864" cy="54864"/>
          </a:xfrm>
          <a:prstGeom prst="ellipse">
            <a:avLst/>
          </a:prstGeom>
          <a:solidFill>
            <a:srgbClr val="FF8EB6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5920" y="1965960"/>
            <a:ext cx="8897112" cy="1417320"/>
          </a:xfrm>
          <a:prstGeom prst="roundRect">
            <a:avLst>
              <a:gd name="adj" fmla="val 9032"/>
            </a:avLst>
          </a:prstGeom>
          <a:solidFill>
            <a:srgbClr val="FF4D8D"/>
          </a:solidFill>
          <a:ln/>
          <a:effectLst>
            <a:outerShdw sx="100000" sy="100000" kx="0" ky="0" algn="bl" rotWithShape="0" blurRad="228600" dist="76200" dir="5400000">
              <a:srgbClr val="D6336C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1965960"/>
            <a:ext cx="8897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학원장 이름값 진단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학원은 왜 선택받는가?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지수 측정 &amp; 성장 전략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공식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17830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=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50976" y="274320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  <a:effectLst>
            <a:outerShdw sx="100000" sy="100000" kx="0" ky="0" algn="bl" rotWithShape="0" blurRad="127000" dist="38100" dir="5400000">
              <a:srgbClr val="E699B8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51076" y="2999232"/>
            <a:ext cx="731520" cy="731520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10" name="Text 8"/>
          <p:cNvSpPr/>
          <p:nvPr/>
        </p:nvSpPr>
        <p:spPr>
          <a:xfrm>
            <a:off x="1751076" y="2999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0976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82696" y="2743200"/>
            <a:ext cx="320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602736" y="274320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  <a:effectLst>
            <a:outerShdw sx="100000" sy="100000" kx="0" ky="0" algn="bl" rotWithShape="0" blurRad="127000" dist="38100" dir="5400000">
              <a:srgbClr val="E699B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02836" y="2999232"/>
            <a:ext cx="731520" cy="731520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16" name="Text 14"/>
          <p:cNvSpPr/>
          <p:nvPr/>
        </p:nvSpPr>
        <p:spPr>
          <a:xfrm>
            <a:off x="4402836" y="2999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02736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02736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34456" y="2743200"/>
            <a:ext cx="320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254496" y="274320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  <a:effectLst>
            <a:outerShdw sx="100000" sy="100000" kx="0" ky="0" algn="bl" rotWithShape="0" blurRad="127000" dist="38100" dir="5400000">
              <a:srgbClr val="E699B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54596" y="2999232"/>
            <a:ext cx="731520" cy="731520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22" name="Text 20"/>
          <p:cNvSpPr/>
          <p:nvPr/>
        </p:nvSpPr>
        <p:spPr>
          <a:xfrm>
            <a:off x="7054596" y="2999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54496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54496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86216" y="2743200"/>
            <a:ext cx="320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8906256" y="274320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  <a:effectLst>
            <a:outerShdw sx="100000" sy="100000" kx="0" ky="0" algn="bl" rotWithShape="0" blurRad="127000" dist="38100" dir="5400000">
              <a:srgbClr val="E699B8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06356" y="2999232"/>
            <a:ext cx="731520" cy="731520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28" name="Text 26"/>
          <p:cNvSpPr/>
          <p:nvPr/>
        </p:nvSpPr>
        <p:spPr>
          <a:xfrm>
            <a:off x="9706356" y="2999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906256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906256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1영역   떠오름(Recall)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784080" y="777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3317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학부모가 우리 지역에서 이 분야를 생각하면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학원(또는 나)이 가장 먼저 떠오르는가?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15400" y="233172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FF4D8D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51460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06840" y="288036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선택의 시작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669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4D8D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0273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0273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0877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20" name="Text 18"/>
          <p:cNvSpPr/>
          <p:nvPr/>
        </p:nvSpPr>
        <p:spPr>
          <a:xfrm>
            <a:off x="620877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1481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22" name="Text 20"/>
          <p:cNvSpPr/>
          <p:nvPr/>
        </p:nvSpPr>
        <p:spPr>
          <a:xfrm>
            <a:off x="881481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학원장은 좋은 수업을 하는 사람이 아니라, 검색되고 비교되고 선택되는 브랜드입니다.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6FA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2영역   보여짐(Visibility)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784080" y="777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3317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학원의 교육 철학과 성과가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온라인에서 꾸준히 보이는가?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15400" y="233172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FF6FA1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51460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06840" y="288036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증거의 영역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669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0273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6FA1"/>
          </a:solidFill>
          <a:ln/>
        </p:spPr>
      </p:sp>
      <p:sp>
        <p:nvSpPr>
          <p:cNvPr id="18" name="Text 16"/>
          <p:cNvSpPr/>
          <p:nvPr/>
        </p:nvSpPr>
        <p:spPr>
          <a:xfrm>
            <a:off x="360273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0877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20" name="Text 18"/>
          <p:cNvSpPr/>
          <p:nvPr/>
        </p:nvSpPr>
        <p:spPr>
          <a:xfrm>
            <a:off x="620877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1481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22" name="Text 20"/>
          <p:cNvSpPr/>
          <p:nvPr/>
        </p:nvSpPr>
        <p:spPr>
          <a:xfrm>
            <a:off x="881481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학원장은 좋은 수업을 하는 사람이 아니라, 검색되고 비교되고 선택되는 브랜드입니다.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8E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3영역   검색됨(Searchability)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784080" y="777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3317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검색하면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학원을 신뢰할 수 있는 정보가 충분한가?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15400" y="233172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FF8EB6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51460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06840" y="288036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평판의 영역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669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0273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0273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0877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8EB6"/>
          </a:solidFill>
          <a:ln/>
        </p:spPr>
      </p:sp>
      <p:sp>
        <p:nvSpPr>
          <p:cNvPr id="20" name="Text 18"/>
          <p:cNvSpPr/>
          <p:nvPr/>
        </p:nvSpPr>
        <p:spPr>
          <a:xfrm>
            <a:off x="620877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1481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22" name="Text 20"/>
          <p:cNvSpPr/>
          <p:nvPr/>
        </p:nvSpPr>
        <p:spPr>
          <a:xfrm>
            <a:off x="881481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학원장은 좋은 수업을 하는 사람이 아니라, 검색되고 비교되고 선택되는 브랜드입니다.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D6336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4영역   신뢰(Trust)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784080" y="777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3317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학부모가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"여기라면 맡길 수 있다."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확신하는가?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15400" y="233172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D6336C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51460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06840" y="288036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선택의 영역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669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0273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0273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0877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E3ED"/>
          </a:solidFill>
          <a:ln/>
        </p:spPr>
      </p:sp>
      <p:sp>
        <p:nvSpPr>
          <p:cNvPr id="20" name="Text 18"/>
          <p:cNvSpPr/>
          <p:nvPr/>
        </p:nvSpPr>
        <p:spPr>
          <a:xfrm>
            <a:off x="620877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14816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D6336C"/>
          </a:solidFill>
          <a:ln/>
        </p:spPr>
      </p:sp>
      <p:sp>
        <p:nvSpPr>
          <p:cNvPr id="22" name="Text 20"/>
          <p:cNvSpPr/>
          <p:nvPr/>
        </p:nvSpPr>
        <p:spPr>
          <a:xfrm>
            <a:off x="8814816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학원장은 좋은 수업을 하는 사람이 아니라, 검색되고 비교되고 선택되는 브랜드입니다.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005840"/>
            <a:ext cx="10543032" cy="685800"/>
          </a:xfrm>
          <a:prstGeom prst="roundRect">
            <a:avLst>
              <a:gd name="adj" fmla="val 13333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학원장 이름값 진단표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1965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지수 측정 방법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2416" y="26060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7157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2416" y="3136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전혀 아니다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99816" y="26060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27157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99816" y="3136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57216" y="26060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7216" y="27157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57216" y="3136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보통이다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14616" y="26060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14616" y="27157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14616" y="3136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72016" y="26060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2016" y="27157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72016" y="3136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매우 그렇다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항목을 1~5점으로 체크한다.  ( 4영역 × 25점 = 총 100점 만점 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96696" y="4617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E3ED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" y="4617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 25점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02736" y="4617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E3ED"/>
          </a:solidFill>
          <a:ln/>
        </p:spPr>
      </p:sp>
      <p:sp>
        <p:nvSpPr>
          <p:cNvPr id="27" name="Text 25"/>
          <p:cNvSpPr/>
          <p:nvPr/>
        </p:nvSpPr>
        <p:spPr>
          <a:xfrm>
            <a:off x="3602736" y="4617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 25점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08776" y="4617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E3ED"/>
          </a:solidFill>
          <a:ln/>
        </p:spPr>
      </p:sp>
      <p:sp>
        <p:nvSpPr>
          <p:cNvPr id="29" name="Text 27"/>
          <p:cNvSpPr/>
          <p:nvPr/>
        </p:nvSpPr>
        <p:spPr>
          <a:xfrm>
            <a:off x="6208776" y="4617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 25점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14816" y="4617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E3ED"/>
          </a:solidFill>
          <a:ln/>
        </p:spPr>
      </p:sp>
      <p:sp>
        <p:nvSpPr>
          <p:cNvPr id="31" name="Text 29"/>
          <p:cNvSpPr/>
          <p:nvPr/>
        </p:nvSpPr>
        <p:spPr>
          <a:xfrm>
            <a:off x="8814816" y="4617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25점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36676" y="914400"/>
            <a:ext cx="5074920" cy="548640"/>
          </a:xfrm>
          <a:prstGeom prst="roundRect">
            <a:avLst>
              <a:gd name="adj" fmla="val 16667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" y="914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질문 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73836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1영역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3836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 (Recall)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3836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지역에서 가장 먼저 떠오르는가?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6676" y="260604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FFD1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" y="2756916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3876" y="2606040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지역에서 특정 과목을 말하면 우리 학원이 떠오른다.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73836" y="3072384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9556" y="3223260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3876" y="3072384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 소개가 꾸준히 발생한다.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73836" y="3538728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9556" y="3689604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3876" y="3538728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학원의 강점이 한 문장으로 설명된다.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3836" y="4005072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9556" y="4155948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3876" y="4005072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학원과 차별점이 명확하다.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73836" y="4471416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9556" y="4622292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3876" y="4471416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원장의 전문성이 알려져 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6676" y="5074920"/>
            <a:ext cx="5074920" cy="457200"/>
          </a:xfrm>
          <a:prstGeom prst="roundRect">
            <a:avLst>
              <a:gd name="adj" fmla="val 20000"/>
            </a:avLst>
          </a:prstGeom>
          <a:solidFill>
            <a:srgbClr val="FFD1E1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" y="5074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소계  25점 만점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77356" y="914400"/>
            <a:ext cx="5074920" cy="548640"/>
          </a:xfrm>
          <a:prstGeom prst="roundRect">
            <a:avLst>
              <a:gd name="adj" fmla="val 16667"/>
            </a:avLst>
          </a:prstGeom>
          <a:solidFill>
            <a:srgbClr val="FF6FA1"/>
          </a:solidFill>
          <a:ln/>
        </p:spPr>
      </p:sp>
      <p:sp>
        <p:nvSpPr>
          <p:cNvPr id="28" name="Text 26"/>
          <p:cNvSpPr/>
          <p:nvPr/>
        </p:nvSpPr>
        <p:spPr>
          <a:xfrm>
            <a:off x="6277356" y="914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질문 2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414516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2영역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14516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 (Visibility)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14516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철학과 성과가 꾸준히 보이는가?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77356" y="260604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FFD1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0236" y="2756916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34556" y="2606040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블로그를 꾸준히 운영한다.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14516" y="3072384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60236" y="3223260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34556" y="3072384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 SNS를 지속적으로 관리한다.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14516" y="3538728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0236" y="3689604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34556" y="3538728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철학을 콘텐츠로 발신한다.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14516" y="4005072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60236" y="4155948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34556" y="4005072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성장 사례를 기록한다.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14516" y="4471416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60236" y="4622292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34556" y="4471416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활용하여 콘텐츠를 제작한다.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77356" y="5074920"/>
            <a:ext cx="5074920" cy="457200"/>
          </a:xfrm>
          <a:prstGeom prst="roundRect">
            <a:avLst>
              <a:gd name="adj" fmla="val 20000"/>
            </a:avLst>
          </a:prstGeom>
          <a:solidFill>
            <a:srgbClr val="FFD1E1"/>
          </a:solidFill>
          <a:ln/>
        </p:spPr>
      </p:sp>
      <p:sp>
        <p:nvSpPr>
          <p:cNvPr id="48" name="Text 46"/>
          <p:cNvSpPr/>
          <p:nvPr/>
        </p:nvSpPr>
        <p:spPr>
          <a:xfrm>
            <a:off x="6277356" y="5074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소계  25점 만점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36676" y="914400"/>
            <a:ext cx="5074920" cy="548640"/>
          </a:xfrm>
          <a:prstGeom prst="roundRect">
            <a:avLst>
              <a:gd name="adj" fmla="val 16667"/>
            </a:avLst>
          </a:prstGeom>
          <a:solidFill>
            <a:srgbClr val="FF8EB6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" y="914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질문 3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73836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3영역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3836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 (Searchability)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3836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정보가 충분한가?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6676" y="260604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FFD1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" y="2756916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3876" y="2606040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학원명을 검색하면 다양한 정보가 나온다.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73836" y="3072384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9556" y="3223260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3876" y="3072384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이름으로 검색되는 콘텐츠가 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73836" y="3538728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9556" y="3689604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3876" y="3538728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글이 꾸준히 누적되고 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3836" y="4005072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9556" y="4155948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3876" y="4005072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후기와 사례가 검색된다.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73836" y="4471416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9556" y="4622292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3876" y="4471416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홈페이지형 블로그가 구축되어 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6676" y="5074920"/>
            <a:ext cx="5074920" cy="457200"/>
          </a:xfrm>
          <a:prstGeom prst="roundRect">
            <a:avLst>
              <a:gd name="adj" fmla="val 20000"/>
            </a:avLst>
          </a:prstGeom>
          <a:solidFill>
            <a:srgbClr val="FFD1E1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" y="5074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소계  25점 만점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77356" y="914400"/>
            <a:ext cx="5074920" cy="548640"/>
          </a:xfrm>
          <a:prstGeom prst="roundRect">
            <a:avLst>
              <a:gd name="adj" fmla="val 16667"/>
            </a:avLst>
          </a:prstGeom>
          <a:solidFill>
            <a:srgbClr val="D6336C"/>
          </a:solidFill>
          <a:ln/>
        </p:spPr>
      </p:sp>
      <p:sp>
        <p:nvSpPr>
          <p:cNvPr id="28" name="Text 26"/>
          <p:cNvSpPr/>
          <p:nvPr/>
        </p:nvSpPr>
        <p:spPr>
          <a:xfrm>
            <a:off x="6277356" y="914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질문 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414516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4영역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14516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14516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학부모가 맡길 수 있다고 확신하는가?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77356" y="260604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FFD1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0236" y="2756916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34556" y="2606040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후 등록률이 높다.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14516" y="3072384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60236" y="3223260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34556" y="3072384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 후기 비율이 높다.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14516" y="3538728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0236" y="3689604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34556" y="3538728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학부모가 주변에 추천한다.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14516" y="4005072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60236" y="4155948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34556" y="4005072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성장이 데이터로 증명된다.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14516" y="4471416"/>
            <a:ext cx="4800600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60236" y="4622292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FF8E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34556" y="4471416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브랜드가 학원 브랜드로 연결된다.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77356" y="5074920"/>
            <a:ext cx="5074920" cy="457200"/>
          </a:xfrm>
          <a:prstGeom prst="roundRect">
            <a:avLst>
              <a:gd name="adj" fmla="val 20000"/>
            </a:avLst>
          </a:prstGeom>
          <a:solidFill>
            <a:srgbClr val="FFD1E1"/>
          </a:solidFill>
          <a:ln/>
        </p:spPr>
      </p:sp>
      <p:sp>
        <p:nvSpPr>
          <p:cNvPr id="48" name="Text 46"/>
          <p:cNvSpPr/>
          <p:nvPr/>
        </p:nvSpPr>
        <p:spPr>
          <a:xfrm>
            <a:off x="6277356" y="5074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소계  25점 만점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 공유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94560" y="1828800"/>
            <a:ext cx="7799832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828800"/>
            <a:ext cx="7799832" cy="502920"/>
          </a:xfrm>
          <a:prstGeom prst="roundRect">
            <a:avLst>
              <a:gd name="adj" fmla="val 18182"/>
            </a:avLst>
          </a:prstGeom>
          <a:solidFill>
            <a:srgbClr val="FFE3ED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85432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2404872"/>
            <a:ext cx="7251192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4048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85432" y="24048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25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468880" y="2971800"/>
            <a:ext cx="7251192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9718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85432" y="2971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25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468880" y="3538728"/>
            <a:ext cx="7251192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5387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85432" y="35387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25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68880" y="4105656"/>
            <a:ext cx="7251192" cy="0"/>
          </a:xfrm>
          <a:prstGeom prst="line">
            <a:avLst/>
          </a:prstGeom>
          <a:noFill/>
          <a:ln w="9525">
            <a:solidFill>
              <a:srgbClr val="FF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1056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85432" y="4105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25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377440" y="4736592"/>
            <a:ext cx="7434072" cy="640080"/>
          </a:xfrm>
          <a:prstGeom prst="roundRect">
            <a:avLst>
              <a:gd name="adj" fmla="val 11429"/>
            </a:avLst>
          </a:prstGeom>
          <a:solidFill>
            <a:srgbClr val="FF4D8D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47365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702552" y="47365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100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94560" y="5605272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각 영역 점수를 직접 입력해 총점을 확인해 보세요.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 해석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9536" y="178308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7830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4D8D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90~100점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24231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학원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33856" y="28346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지역에서 먼저 선택받는 학원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178308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17830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6FA1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70~89점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28816" y="24231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성장형 학원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28816" y="28346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시스템이 있지만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브랜딩이 부족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9536" y="393192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9319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8EB6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50~69점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3856" y="45720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잠재형 학원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133856" y="49834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실력은 있지만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알려지지 않음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54496" y="393192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39319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D6336C"/>
          </a:solidFill>
          <a:ln/>
        </p:spPr>
      </p:sp>
      <p:sp>
        <p:nvSpPr>
          <p:cNvPr id="24" name="Text 22"/>
          <p:cNvSpPr/>
          <p:nvPr/>
        </p:nvSpPr>
        <p:spPr>
          <a:xfrm>
            <a:off x="6254496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49점 이하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28816" y="45720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고수형 학원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28816" y="49834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교육은 잘하지만 검색되지 않고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선택받지 못함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퍼스널 브랜드 선언문 작성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828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이름값 한 줄 선언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0" y="2423160"/>
            <a:ext cx="8897112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788920"/>
            <a:ext cx="8348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</a:t>
            </a:r>
            <a:pPr algn="ctr" indent="0" marL="0">
              <a:buNone/>
            </a:pPr>
            <a:r>
              <a:rPr lang="en-US" sz="2400" b="1" u="sng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</a:t>
            </a:r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분야에서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20240" y="3429000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떠오르는 학원장이 되겠습니다.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빈칸에 우리 학원만의 전문 분야 또는 강점을 채워 넣어보세요.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학원 이름값 성장 로드맵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0" y="16916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액션플랜 수립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9516" y="2834640"/>
            <a:ext cx="1417320" cy="1417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4D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" y="28346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점수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16836" y="33421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74036" y="2834640"/>
            <a:ext cx="1417320" cy="1417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036" y="28346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91356" y="33421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48556" y="2834640"/>
            <a:ext cx="1417320" cy="1417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4D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8556" y="28346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65876" y="33421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23076" y="2834640"/>
            <a:ext cx="1417320" cy="1417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3076" y="28346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1개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40396" y="33421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97596" y="2834640"/>
            <a:ext cx="1417320" cy="1417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4D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7596" y="28346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1개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14916" y="33421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072116" y="2834640"/>
            <a:ext cx="1417320" cy="1417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2116" y="28346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1개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8463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위치를 확인하고, 3개월·1년 목표까지 대표 콘텐츠·프로그램·키워드로 연결합니다.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학원장 이름값 30일 실행계획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80160" y="1783080"/>
            <a:ext cx="9628632" cy="777240"/>
          </a:xfrm>
          <a:prstGeom prst="roundRect">
            <a:avLst>
              <a:gd name="adj" fmla="val 49412"/>
            </a:avLst>
          </a:prstGeom>
          <a:solidFill>
            <a:srgbClr val="FFE3ED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783080"/>
            <a:ext cx="9628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지역에서 가장 먼저 떠오르는 학원 만들기”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0" y="2788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315468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동안 떠오름 · 보여짐 · 검색됨 · 신뢰를 동시에 높인다.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39696" y="3794760"/>
            <a:ext cx="1737360" cy="17373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4D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9696" y="4050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39696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97096" y="3794760"/>
            <a:ext cx="1737360" cy="17373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7096" y="4050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97096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54496" y="3794760"/>
            <a:ext cx="1737360" cy="17373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8E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4050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54496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11896" y="3794760"/>
            <a:ext cx="1737360" cy="17373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633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1896" y="4050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11896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학원장 이름값 30일 실행계획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0" y="17830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결과물  ➜  30일 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73836" y="2606040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5316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키워드 1개 확보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3076" y="2606040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4556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홈페이지형 블로그 구축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73836" y="3136392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5316" y="30449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콘텐츠 10개 제작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23076" y="3136392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4556" y="30449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상담률 향상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73836" y="3666744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5316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 후기 확보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23076" y="3666744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4556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프로그램 정리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73836" y="4197096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5316" y="41056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문장 완성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유형 진단 (학원장 버전)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691640"/>
            <a:ext cx="12188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후 학부모가 우리 학원장을 떠올릴 때,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이름으로 기억되길 원하는가?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2396" y="260604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4D8D"/>
          </a:solidFill>
          <a:ln/>
        </p:spPr>
      </p:sp>
      <p:sp>
        <p:nvSpPr>
          <p:cNvPr id="9" name="Text 7"/>
          <p:cNvSpPr/>
          <p:nvPr/>
        </p:nvSpPr>
        <p:spPr>
          <a:xfrm>
            <a:off x="973836" y="2606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활용형 원장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34156" y="260604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6FA1"/>
          </a:solidFill>
          <a:ln/>
        </p:spPr>
      </p:sp>
      <p:sp>
        <p:nvSpPr>
          <p:cNvPr id="11" name="Text 9"/>
          <p:cNvSpPr/>
          <p:nvPr/>
        </p:nvSpPr>
        <p:spPr>
          <a:xfrm>
            <a:off x="3625596" y="2606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성적관리형 원장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5916" y="260604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4D8D"/>
          </a:solidFill>
          <a:ln/>
        </p:spPr>
      </p:sp>
      <p:sp>
        <p:nvSpPr>
          <p:cNvPr id="13" name="Text 11"/>
          <p:cNvSpPr/>
          <p:nvPr/>
        </p:nvSpPr>
        <p:spPr>
          <a:xfrm>
            <a:off x="6277356" y="2606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학습코칭형 원장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37676" y="260604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6FA1"/>
          </a:solidFill>
          <a:ln/>
        </p:spPr>
      </p:sp>
      <p:sp>
        <p:nvSpPr>
          <p:cNvPr id="15" name="Text 13"/>
          <p:cNvSpPr/>
          <p:nvPr/>
        </p:nvSpPr>
        <p:spPr>
          <a:xfrm>
            <a:off x="8929116" y="2606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학부모소통형 원장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2396" y="3794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4D8D"/>
          </a:solidFill>
          <a:ln/>
        </p:spPr>
      </p:sp>
      <p:sp>
        <p:nvSpPr>
          <p:cNvPr id="17" name="Text 15"/>
          <p:cNvSpPr/>
          <p:nvPr/>
        </p:nvSpPr>
        <p:spPr>
          <a:xfrm>
            <a:off x="973836" y="37947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콘텐츠브랜딩형 원장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34156" y="3794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6FA1"/>
          </a:solidFill>
          <a:ln/>
        </p:spPr>
      </p:sp>
      <p:sp>
        <p:nvSpPr>
          <p:cNvPr id="19" name="Text 17"/>
          <p:cNvSpPr/>
          <p:nvPr/>
        </p:nvSpPr>
        <p:spPr>
          <a:xfrm>
            <a:off x="3625596" y="37947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설명회전문형 원장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85916" y="3794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4D8D"/>
          </a:solidFill>
          <a:ln/>
        </p:spPr>
      </p:sp>
      <p:sp>
        <p:nvSpPr>
          <p:cNvPr id="21" name="Text 19"/>
          <p:cNvSpPr/>
          <p:nvPr/>
        </p:nvSpPr>
        <p:spPr>
          <a:xfrm>
            <a:off x="6277356" y="37947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시스템운영형 원장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37676" y="3794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6FA1"/>
          </a:solidFill>
          <a:ln/>
        </p:spPr>
      </p:sp>
      <p:sp>
        <p:nvSpPr>
          <p:cNvPr id="23" name="Text 21"/>
          <p:cNvSpPr/>
          <p:nvPr/>
        </p:nvSpPr>
        <p:spPr>
          <a:xfrm>
            <a:off x="8929116" y="37947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진로설계형 원장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학원장 대상 AI 퍼스널브랜딩 특강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 진단 실습 워크북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FF4D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후 체크리스트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9536" y="178308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떠오름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33856" y="2487168"/>
            <a:ext cx="219456" cy="219456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24414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학원의 전문 분야가 명확해졌다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33856" y="3035808"/>
            <a:ext cx="219456" cy="219456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29900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학원을 설명하는 한 문장이 생겼다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178308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6FA1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28816" y="2487168"/>
            <a:ext cx="219456" cy="219456"/>
          </a:xfrm>
          <a:prstGeom prst="rect">
            <a:avLst/>
          </a:prstGeom>
          <a:solidFill>
            <a:srgbClr val="FFFFFF"/>
          </a:solidFill>
          <a:ln w="25400">
            <a:solidFill>
              <a:srgbClr val="FF6F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24414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4개 이상 제작했다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28816" y="3035808"/>
            <a:ext cx="219456" cy="219456"/>
          </a:xfrm>
          <a:prstGeom prst="rect">
            <a:avLst/>
          </a:prstGeom>
          <a:solidFill>
            <a:srgbClr val="FFFFFF"/>
          </a:solidFill>
          <a:ln w="25400">
            <a:solidFill>
              <a:srgbClr val="FF6F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29900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학원의 활동을 기록하기 시작했다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9536" y="38862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" y="38862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8EB6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33856" y="4590288"/>
            <a:ext cx="219456" cy="219456"/>
          </a:xfrm>
          <a:prstGeom prst="rect">
            <a:avLst/>
          </a:prstGeom>
          <a:solidFill>
            <a:srgbClr val="FFFFFF"/>
          </a:solidFill>
          <a:ln w="25400">
            <a:solidFill>
              <a:srgbClr val="FF8E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1328" y="45445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가능한 기록이 생겼다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33856" y="5138928"/>
            <a:ext cx="219456" cy="219456"/>
          </a:xfrm>
          <a:prstGeom prst="rect">
            <a:avLst/>
          </a:prstGeom>
          <a:solidFill>
            <a:srgbClr val="FFFFFF"/>
          </a:solidFill>
          <a:ln w="25400">
            <a:solidFill>
              <a:srgbClr val="FF8E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1328" y="50932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콘텐츠가 만들어졌다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54496" y="38862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D1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38862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28816" y="4590288"/>
            <a:ext cx="219456" cy="219456"/>
          </a:xfrm>
          <a:prstGeom prst="rect">
            <a:avLst/>
          </a:prstGeom>
          <a:solidFill>
            <a:srgbClr val="FFFFFF"/>
          </a:solidFill>
          <a:ln w="25400">
            <a:solidFill>
              <a:srgbClr val="D633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45445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학부모와 더 많이 소통했다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28816" y="5138928"/>
            <a:ext cx="219456" cy="219456"/>
          </a:xfrm>
          <a:prstGeom prst="rect">
            <a:avLst/>
          </a:prstGeom>
          <a:solidFill>
            <a:srgbClr val="FFFFFF"/>
          </a:solidFill>
          <a:ln w="25400">
            <a:solidFill>
              <a:srgbClr val="D633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50932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신뢰와 추천의 순간이 늘었다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8E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2026-07-13T04:47:58Z</dcterms:created>
  <dcterms:modified xsi:type="dcterms:W3CDTF">2026-07-13T04:47:58Z</dcterms:modified>
</cp:coreProperties>
</file>